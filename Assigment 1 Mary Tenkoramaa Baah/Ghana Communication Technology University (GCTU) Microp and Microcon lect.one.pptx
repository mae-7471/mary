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62" r:id="rId13"/>
    <p:sldId id="263" r:id="rId14"/>
    <p:sldId id="264" r:id="rId15"/>
    <p:sldId id="265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60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2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5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7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3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6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2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9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7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42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48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470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73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47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11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817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C4792-845F-44FB-B558-BE85C2525F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25809-F0EE-4200-A0B0-ADC7B0E53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94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0CA4-FD35-F27A-70A0-9E59C69EC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7837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Algerian" panose="04020705040A02060702" pitchFamily="82" charset="0"/>
              </a:rPr>
              <a:t>Ghana Communication Technology University (GCTU)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45353-3561-CDE7-98C4-2BC3486A1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8172" y="2091922"/>
            <a:ext cx="9144000" cy="3643715"/>
          </a:xfrm>
        </p:spPr>
        <p:txBody>
          <a:bodyPr>
            <a:normAutofit fontScale="92500" lnSpcReduction="20000"/>
          </a:bodyPr>
          <a:lstStyle/>
          <a:p>
            <a:r>
              <a:rPr lang="en-US" sz="3600" b="1" dirty="0"/>
              <a:t>WEEK ONE LECTURE NOTES</a:t>
            </a:r>
            <a:endParaRPr lang="en-US" sz="3600" dirty="0"/>
          </a:p>
          <a:p>
            <a:r>
              <a:rPr lang="en-US" sz="3600" b="1" dirty="0"/>
              <a:t>Course Title: Microprocessors and Microcontrollers</a:t>
            </a:r>
            <a:endParaRPr lang="en-US" sz="3600" dirty="0"/>
          </a:p>
          <a:p>
            <a:r>
              <a:rPr lang="en-US" sz="3600" b="1" dirty="0"/>
              <a:t>Lecturer: Apostle Isaac Frank Agidi</a:t>
            </a:r>
            <a:endParaRPr lang="en-US" sz="3600" dirty="0"/>
          </a:p>
          <a:p>
            <a:r>
              <a:rPr lang="en-US" sz="3600" b="1" dirty="0"/>
              <a:t>Co-Lecturer: Ing. Kenneth Prince Amoah</a:t>
            </a:r>
            <a:endParaRPr lang="en-US" sz="3600" dirty="0"/>
          </a:p>
          <a:p>
            <a:r>
              <a:rPr lang="en-US" sz="3600" b="1" dirty="0"/>
              <a:t>Week: 1 (10th – 16th November 2025)</a:t>
            </a:r>
            <a:endParaRPr lang="en-US" sz="3600" dirty="0"/>
          </a:p>
          <a:p>
            <a:endParaRPr lang="en-US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25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1054-CE83-4986-06EF-6C946097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Topic: </a:t>
            </a:r>
            <a:r>
              <a:rPr lang="en-US" b="1" i="1" dirty="0"/>
              <a:t>Introduction and Fundamentals of Microprocessors and Microcontrollers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47DA3-75EE-F65A-1841-E3A24D80E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02245"/>
            <a:ext cx="9905999" cy="4440681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1.0 Learning Objectives</a:t>
            </a:r>
            <a:endParaRPr lang="en-US" sz="2800" dirty="0"/>
          </a:p>
          <a:p>
            <a:r>
              <a:rPr lang="en-US" sz="2800" dirty="0"/>
              <a:t>By the end of this lecture, students should be able to:</a:t>
            </a:r>
          </a:p>
          <a:p>
            <a:pPr lvl="0"/>
            <a:r>
              <a:rPr lang="en-US" sz="2800" dirty="0"/>
              <a:t>Explain the evolution of computers and processors.</a:t>
            </a:r>
          </a:p>
          <a:p>
            <a:pPr lvl="0"/>
            <a:r>
              <a:rPr lang="en-US" sz="2800" dirty="0"/>
              <a:t>Distinguish between microprocessors and microcontrollers.</a:t>
            </a:r>
          </a:p>
          <a:p>
            <a:pPr lvl="0"/>
            <a:r>
              <a:rPr lang="en-US" sz="2800" dirty="0"/>
              <a:t>Identify the key components and functions of a microprocessor-based system.</a:t>
            </a:r>
          </a:p>
          <a:p>
            <a:pPr lvl="0"/>
            <a:r>
              <a:rPr lang="en-US" sz="2800" dirty="0"/>
              <a:t>Understand the architecture and features of Intel 8085 microprocessor.</a:t>
            </a:r>
          </a:p>
          <a:p>
            <a:pPr lvl="0"/>
            <a:r>
              <a:rPr lang="en-US" sz="2800" dirty="0"/>
              <a:t>Appreciate the importance of microcontrollers in embedded systems.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0104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BF23-2E80-84D7-F7E8-5719A36D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2.0 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B27E-E030-88BC-FFB8-3AEC5AE1F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8074"/>
            <a:ext cx="9905999" cy="444140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600" dirty="0"/>
              <a:t>Microprocessors and microcontrollers form the foundation of modern computing and embedded systems. They are the "brains" of almost every electronic device—from computers and smartphones to washing machines and cars.</a:t>
            </a:r>
          </a:p>
          <a:p>
            <a:pPr algn="just"/>
            <a:r>
              <a:rPr lang="en-US" sz="3600" dirty="0"/>
              <a:t>Understanding their architecture, programming, and operation is crucial for anyone studying computer science, electrical engineering, or IT.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1787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CD19DE-0A77-0E86-4989-F3D46FAB05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01" t="18852" r="27468" b="22740"/>
          <a:stretch>
            <a:fillRect/>
          </a:stretch>
        </p:blipFill>
        <p:spPr>
          <a:xfrm>
            <a:off x="185195" y="497711"/>
            <a:ext cx="11690430" cy="581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97C0-D550-F676-EAAF-49315015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3.0 Evolution of Computers and Processors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4174-E67F-772E-5AA6-0D2C33769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3600" b="1" dirty="0"/>
              <a:t>3.1 The Mechanical Era</a:t>
            </a:r>
            <a:endParaRPr lang="en-US" sz="3600" dirty="0"/>
          </a:p>
          <a:p>
            <a:pPr lvl="0" algn="just"/>
            <a:r>
              <a:rPr lang="en-US" sz="3600" dirty="0"/>
              <a:t>Early computing devices were mechanical (e.g., Pascal’s calculator, Leibniz’s multiplier).</a:t>
            </a:r>
          </a:p>
          <a:p>
            <a:pPr lvl="0" algn="just"/>
            <a:r>
              <a:rPr lang="en-US" sz="3600" dirty="0"/>
              <a:t>These could perform basic operations (addition, subtraction) but were slow and bulky.</a:t>
            </a:r>
          </a:p>
          <a:p>
            <a:pPr marL="0" indent="0" algn="just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2130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8CCD-1BEC-8323-ED7F-8457BE69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3.2 The Electronic 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DF11-A845-EBBA-DD74-D133788DC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sz="4400" dirty="0"/>
              <a:t>Transition from mechanical to electronic devices began with </a:t>
            </a:r>
            <a:r>
              <a:rPr lang="en-US" sz="4400" b="1" dirty="0"/>
              <a:t>vacuum tubes</a:t>
            </a:r>
            <a:r>
              <a:rPr lang="en-US" sz="4400" dirty="0"/>
              <a:t>.</a:t>
            </a:r>
          </a:p>
          <a:p>
            <a:pPr lvl="0"/>
            <a:r>
              <a:rPr lang="en-US" sz="4400" dirty="0"/>
              <a:t>Major developments:</a:t>
            </a:r>
          </a:p>
          <a:p>
            <a:pPr lvl="1"/>
            <a:r>
              <a:rPr lang="en-US" sz="4000" dirty="0"/>
              <a:t>1943–46: ENIAC – first electronic computer.</a:t>
            </a:r>
          </a:p>
          <a:p>
            <a:pPr lvl="1"/>
            <a:r>
              <a:rPr lang="en-US" sz="4000" dirty="0"/>
              <a:t>1951: UNIVAC – first commercial computer.</a:t>
            </a:r>
          </a:p>
          <a:p>
            <a:pPr lvl="1"/>
            <a:r>
              <a:rPr lang="en-US" sz="4000" dirty="0"/>
              <a:t>1964: IBM System/360 – standard computer series.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8530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5E81C-EAE1-C8D5-287F-ED8ED31D6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The first generation (1940-1950)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D8A3A-D159-2B3E-BD2B-812557CF2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dirty="0"/>
              <a:t>First by John V. Atanasoff (1903-95), at Iowa State University, in late 1930s</a:t>
            </a:r>
          </a:p>
          <a:p>
            <a:pPr marL="0" indent="0">
              <a:buNone/>
            </a:pPr>
            <a:r>
              <a:rPr lang="en-US" sz="3200" dirty="0"/>
              <a:t>● The Electronic Numeric Integrator and Calculator (ENIAC) by Mauchly and Eckert in the University of Pennsylvania, 1943-46 </a:t>
            </a:r>
          </a:p>
          <a:p>
            <a:pPr marL="0" indent="0">
              <a:buNone/>
            </a:pPr>
            <a:r>
              <a:rPr lang="en-US" sz="3200" dirty="0"/>
              <a:t>● The first commercial product by Eckert-Mauchly Corp was UNIAC (Universal Automatic Computer) in 1951. </a:t>
            </a:r>
          </a:p>
          <a:p>
            <a:pPr marL="0" indent="0">
              <a:buNone/>
            </a:pPr>
            <a:r>
              <a:rPr lang="en-US" sz="3200" dirty="0"/>
              <a:t>● IAS Computer, by von Neumann, at the Institute for Advanced Studies in Princeton began to work on the design of a new stored program electronic computer, 1947 </a:t>
            </a:r>
          </a:p>
        </p:txBody>
      </p:sp>
    </p:spTree>
    <p:extLst>
      <p:ext uri="{BB962C8B-B14F-4D97-AF65-F5344CB8AC3E}">
        <p14:creationId xmlns:p14="http://schemas.microsoft.com/office/powerpoint/2010/main" val="297241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C35C-B0AF-A45B-8C1C-4A6BF14F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43956"/>
            <a:ext cx="9905998" cy="1071386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The second generation (1954-64)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18E4A-E51B-25EE-2B51-6CCD5E3EB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9124"/>
            <a:ext cx="10515600" cy="55437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Key Features </a:t>
            </a:r>
          </a:p>
          <a:p>
            <a:pPr marL="0" indent="0">
              <a:buNone/>
            </a:pPr>
            <a:r>
              <a:rPr lang="en-US" sz="2800" dirty="0"/>
              <a:t>● The vacuum tubes and electronics valves were soon replaced by bipolar junction transistors, in 1947 </a:t>
            </a:r>
          </a:p>
          <a:p>
            <a:pPr marL="0" indent="0">
              <a:buNone/>
            </a:pPr>
            <a:r>
              <a:rPr lang="en-US" sz="2800" dirty="0"/>
              <a:t>● the second-generation computers based on transistors soon replaced the first generation of vacuum tube-based machines </a:t>
            </a:r>
          </a:p>
          <a:p>
            <a:pPr marL="0" indent="0">
              <a:buNone/>
            </a:pPr>
            <a:r>
              <a:rPr lang="en-US" sz="2800" dirty="0"/>
              <a:t>● drastic reduction in size and cost and power. </a:t>
            </a:r>
          </a:p>
          <a:p>
            <a:pPr marL="0" indent="0">
              <a:buNone/>
            </a:pPr>
            <a:r>
              <a:rPr lang="en-US" sz="2800" dirty="0"/>
              <a:t>● Computational speed also enhanced to a great extent. </a:t>
            </a:r>
          </a:p>
          <a:p>
            <a:pPr marL="0" indent="0">
              <a:buNone/>
            </a:pPr>
            <a:r>
              <a:rPr lang="en-US" sz="2800" dirty="0"/>
              <a:t>● ferrite cores became the dominant technology for main memories until it is superseded by the all-transistor memories in 1970s. </a:t>
            </a:r>
          </a:p>
          <a:p>
            <a:pPr marL="0" indent="0">
              <a:buNone/>
            </a:pPr>
            <a:r>
              <a:rPr lang="en-US" sz="2800" dirty="0"/>
              <a:t>● Magnetic disks became the principal technologies for secondary memories since then. </a:t>
            </a:r>
          </a:p>
        </p:txBody>
      </p:sp>
    </p:spTree>
    <p:extLst>
      <p:ext uri="{BB962C8B-B14F-4D97-AF65-F5344CB8AC3E}">
        <p14:creationId xmlns:p14="http://schemas.microsoft.com/office/powerpoint/2010/main" val="115643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8E69-F5FD-16AD-77BE-77FB39BE4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861"/>
            <a:ext cx="10515600" cy="59030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● With the introduction of index registers, it is possible to have indexed instructions, which increments or decrements the designated index I. </a:t>
            </a:r>
          </a:p>
          <a:p>
            <a:pPr marL="0" indent="0">
              <a:buNone/>
            </a:pPr>
            <a:r>
              <a:rPr lang="en-US" sz="2800" dirty="0"/>
              <a:t>● Another innovation in second generation was the introduction of program-control instructions: call and return which allow the linking of programs. </a:t>
            </a:r>
          </a:p>
          <a:p>
            <a:pPr marL="0" indent="0">
              <a:buNone/>
            </a:pPr>
            <a:r>
              <a:rPr lang="en-US" sz="2800" dirty="0"/>
              <a:t>● It allowed to perform operations on floating point numbers, </a:t>
            </a:r>
          </a:p>
          <a:p>
            <a:pPr marL="0" indent="0">
              <a:buNone/>
            </a:pPr>
            <a:r>
              <a:rPr lang="en-US" sz="2800" dirty="0"/>
              <a:t>● With the introduction of compilers in has become possible to write instructions in high level language. </a:t>
            </a:r>
          </a:p>
          <a:p>
            <a:pPr marL="0" indent="0">
              <a:buNone/>
            </a:pPr>
            <a:r>
              <a:rPr lang="en-US" sz="2800" dirty="0"/>
              <a:t>● For system management, batch processing came into existence. Batch processing makes use of supervisory program known as batch monitor which is a rudimentary version of operating system, which is a system program designed to manage computer’s resources efficiently. </a:t>
            </a:r>
          </a:p>
        </p:txBody>
      </p:sp>
    </p:spTree>
    <p:extLst>
      <p:ext uri="{BB962C8B-B14F-4D97-AF65-F5344CB8AC3E}">
        <p14:creationId xmlns:p14="http://schemas.microsoft.com/office/powerpoint/2010/main" val="104574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7ECB0-9159-0DCF-0948-35AEE99A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1829"/>
            <a:ext cx="9905998" cy="118713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The third generation (1965-75)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7853-A50C-58C8-23A3-750E71217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88962"/>
            <a:ext cx="9905999" cy="485051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4000" dirty="0"/>
              <a:t>● introduction of silicon based integrated circuits (ICs) in the design of computer hardware, in 1961 </a:t>
            </a:r>
          </a:p>
          <a:p>
            <a:pPr marL="0" indent="0">
              <a:buNone/>
            </a:pPr>
            <a:r>
              <a:rPr lang="en-US" sz="4000" dirty="0"/>
              <a:t>● This replaced all the second-generation computers designed with discrete transistors, </a:t>
            </a:r>
          </a:p>
          <a:p>
            <a:pPr marL="0" indent="0">
              <a:buNone/>
            </a:pPr>
            <a:r>
              <a:rPr lang="en-US" sz="4000" dirty="0"/>
              <a:t>● reduced size, cost and enhanced the speed. </a:t>
            </a:r>
          </a:p>
          <a:p>
            <a:pPr marL="0" indent="0">
              <a:buNone/>
            </a:pPr>
            <a:r>
              <a:rPr lang="en-US" sz="4000" dirty="0"/>
              <a:t>● The most significant event during this period was the recognition of the need to standardize the computers, </a:t>
            </a:r>
          </a:p>
        </p:txBody>
      </p:sp>
    </p:spTree>
    <p:extLst>
      <p:ext uri="{BB962C8B-B14F-4D97-AF65-F5344CB8AC3E}">
        <p14:creationId xmlns:p14="http://schemas.microsoft.com/office/powerpoint/2010/main" val="2787787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3B813-6E1D-9152-34EB-EE103D75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7241"/>
            <a:ext cx="10515600" cy="58297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dirty="0"/>
              <a:t>● more and more software were developed and used more efficiently. ● IBM developed the most influential third-generation computer, the System/360 which was announced in 1964 and came in the year 1965. </a:t>
            </a:r>
          </a:p>
          <a:p>
            <a:pPr marL="0" indent="0">
              <a:buNone/>
            </a:pPr>
            <a:r>
              <a:rPr lang="en-US" sz="3600" dirty="0"/>
              <a:t>● Since then System/360 became the de-facto standard and all the models in the series are software compatible with each other (share common instruction set). </a:t>
            </a:r>
          </a:p>
          <a:p>
            <a:pPr marL="0" indent="0">
              <a:buNone/>
            </a:pPr>
            <a:r>
              <a:rPr lang="en-US" sz="3600" dirty="0"/>
              <a:t>● Introduction of status register (SR) to save the program status word, for any exceptional conditions, errors, divide by zero or any urgent service requests such as interrupts. </a:t>
            </a:r>
          </a:p>
        </p:txBody>
      </p:sp>
    </p:spTree>
    <p:extLst>
      <p:ext uri="{BB962C8B-B14F-4D97-AF65-F5344CB8AC3E}">
        <p14:creationId xmlns:p14="http://schemas.microsoft.com/office/powerpoint/2010/main" val="2594953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F735-C34D-2B96-395E-A2F1DC37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3.3 The VLSI Era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D0225-1B96-A4BF-DA27-387E2DA83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4076"/>
            <a:ext cx="9905999" cy="3997125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3600" dirty="0"/>
              <a:t>Development of </a:t>
            </a:r>
            <a:r>
              <a:rPr lang="en-US" sz="3600" b="1" dirty="0"/>
              <a:t>Integrated Circuits (ICs)</a:t>
            </a:r>
            <a:r>
              <a:rPr lang="en-US" sz="3600" dirty="0"/>
              <a:t> in 1959 revolutionized computing.</a:t>
            </a:r>
          </a:p>
          <a:p>
            <a:pPr lvl="0"/>
            <a:r>
              <a:rPr lang="en-US" sz="3600" dirty="0"/>
              <a:t>Allowed thousands, then millions, of transistors to fit on a single chip.</a:t>
            </a:r>
          </a:p>
          <a:p>
            <a:pPr lvl="0"/>
            <a:r>
              <a:rPr lang="en-US" sz="3600" dirty="0"/>
              <a:t>Led to </a:t>
            </a:r>
            <a:r>
              <a:rPr lang="en-US" sz="3600" b="1" dirty="0"/>
              <a:t>microprocessors</a:t>
            </a:r>
            <a:r>
              <a:rPr lang="en-US" sz="3600" dirty="0"/>
              <a:t>, starting with </a:t>
            </a:r>
            <a:r>
              <a:rPr lang="en-US" sz="3600" b="1" dirty="0"/>
              <a:t>Intel 4004 (1971)</a:t>
            </a:r>
            <a:r>
              <a:rPr lang="en-US" sz="3600" dirty="0"/>
              <a:t> and </a:t>
            </a:r>
            <a:r>
              <a:rPr lang="en-US" sz="3600" b="1" dirty="0"/>
              <a:t>8085 (1976)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134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EBC263-292A-2F7F-11EC-72BE53E4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73" t="32413" r="27184" b="5561"/>
          <a:stretch>
            <a:fillRect/>
          </a:stretch>
        </p:blipFill>
        <p:spPr>
          <a:xfrm>
            <a:off x="219918" y="115747"/>
            <a:ext cx="11829327" cy="630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64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591AF-C837-D57E-B58B-3DAB546AE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4.0 Microprocessor Fundamentals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2F53-C8AA-082F-D222-C5EF91E67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979552" cy="5078021"/>
          </a:xfrm>
        </p:spPr>
        <p:txBody>
          <a:bodyPr>
            <a:normAutofit fontScale="85000" lnSpcReduction="20000"/>
          </a:bodyPr>
          <a:lstStyle/>
          <a:p>
            <a:r>
              <a:rPr lang="en-US" sz="3600" b="1" dirty="0"/>
              <a:t>Definition:</a:t>
            </a:r>
            <a:endParaRPr lang="en-US" sz="3600" dirty="0"/>
          </a:p>
          <a:p>
            <a:r>
              <a:rPr lang="en-US" sz="3600" dirty="0"/>
              <a:t>A </a:t>
            </a:r>
            <a:r>
              <a:rPr lang="en-US" sz="3600" b="1" dirty="0"/>
              <a:t>microprocessor</a:t>
            </a:r>
            <a:r>
              <a:rPr lang="en-US" sz="3600" dirty="0"/>
              <a:t> is an integrated circuit that performs all the functions of a CPU on a single chip. It processes binary data, executes instructions, and controls system operations.</a:t>
            </a:r>
          </a:p>
          <a:p>
            <a:r>
              <a:rPr lang="en-US" sz="3600" b="1" dirty="0"/>
              <a:t>Components:</a:t>
            </a:r>
            <a:endParaRPr lang="en-US" sz="3600" dirty="0"/>
          </a:p>
          <a:p>
            <a:pPr lvl="0"/>
            <a:r>
              <a:rPr lang="en-US" sz="3600" b="1" dirty="0"/>
              <a:t>ALU (Arithmetic Logic Unit)</a:t>
            </a:r>
            <a:r>
              <a:rPr lang="en-US" sz="3600" dirty="0"/>
              <a:t> – Performs arithmetic and logical operations.</a:t>
            </a:r>
          </a:p>
          <a:p>
            <a:pPr lvl="0"/>
            <a:r>
              <a:rPr lang="en-US" sz="3600" b="1" dirty="0"/>
              <a:t>Registers</a:t>
            </a:r>
            <a:r>
              <a:rPr lang="en-US" sz="3600" dirty="0"/>
              <a:t> – Small, high-speed storage for temporary data.</a:t>
            </a:r>
          </a:p>
          <a:p>
            <a:pPr lvl="0"/>
            <a:r>
              <a:rPr lang="en-US" sz="3600" b="1" dirty="0"/>
              <a:t>Control Unit</a:t>
            </a:r>
            <a:r>
              <a:rPr lang="en-US" sz="3600" dirty="0"/>
              <a:t> – Directs operations within the CPU.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8279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0FFD0-DC1E-DFD4-CC42-CEE8BC8F9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35087"/>
            <a:ext cx="9905999" cy="3541714"/>
          </a:xfrm>
        </p:spPr>
        <p:txBody>
          <a:bodyPr>
            <a:normAutofit fontScale="92500"/>
          </a:bodyPr>
          <a:lstStyle/>
          <a:p>
            <a:pPr lvl="0"/>
            <a:r>
              <a:rPr lang="en-US" sz="4800" b="1" dirty="0"/>
              <a:t>Buses</a:t>
            </a:r>
            <a:r>
              <a:rPr lang="en-US" sz="4800" dirty="0"/>
              <a:t> –</a:t>
            </a:r>
          </a:p>
          <a:p>
            <a:pPr lvl="1"/>
            <a:r>
              <a:rPr lang="en-US" sz="4400" b="1" dirty="0"/>
              <a:t>Address Bus:</a:t>
            </a:r>
            <a:r>
              <a:rPr lang="en-US" sz="4400" dirty="0"/>
              <a:t> Identifies memory locations.</a:t>
            </a:r>
          </a:p>
          <a:p>
            <a:pPr lvl="1"/>
            <a:r>
              <a:rPr lang="en-US" sz="4400" b="1" dirty="0"/>
              <a:t>Data Bus:</a:t>
            </a:r>
            <a:r>
              <a:rPr lang="en-US" sz="4400" dirty="0"/>
              <a:t> Transfers data.</a:t>
            </a:r>
          </a:p>
          <a:p>
            <a:pPr lvl="1"/>
            <a:r>
              <a:rPr lang="en-US" sz="4400" b="1" dirty="0"/>
              <a:t>Control Bus:</a:t>
            </a:r>
            <a:r>
              <a:rPr lang="en-US" sz="4400" dirty="0"/>
              <a:t> Carries control signals.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49884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D8ED-878E-377F-5F05-B377343BC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07765"/>
            <a:ext cx="9905999" cy="3541714"/>
          </a:xfrm>
        </p:spPr>
        <p:txBody>
          <a:bodyPr>
            <a:normAutofit/>
          </a:bodyPr>
          <a:lstStyle/>
          <a:p>
            <a:r>
              <a:rPr lang="en-US" sz="4000" b="1" dirty="0"/>
              <a:t>Functions:</a:t>
            </a:r>
            <a:endParaRPr lang="en-US" sz="4000" dirty="0"/>
          </a:p>
          <a:p>
            <a:pPr lvl="0"/>
            <a:r>
              <a:rPr lang="en-US" sz="4000" dirty="0"/>
              <a:t>Fetch → Decode → Execute cycle.</a:t>
            </a:r>
          </a:p>
          <a:p>
            <a:pPr lvl="0"/>
            <a:r>
              <a:rPr lang="en-US" sz="4000" dirty="0"/>
              <a:t>Communication with input/output devices.</a:t>
            </a:r>
          </a:p>
          <a:p>
            <a:pPr lvl="0"/>
            <a:r>
              <a:rPr lang="en-US" sz="4000" dirty="0"/>
              <a:t>Handling interrupts and timing operations.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64676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CAF6C1-6304-9179-9A23-964C78D98D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59" t="43445" r="24810" b="7731"/>
          <a:stretch>
            <a:fillRect/>
          </a:stretch>
        </p:blipFill>
        <p:spPr>
          <a:xfrm>
            <a:off x="115748" y="613458"/>
            <a:ext cx="11910348" cy="55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10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C0AFCE-6DEA-1618-7BCE-D7579879A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09" t="33861" r="28418" b="19666"/>
          <a:stretch>
            <a:fillRect/>
          </a:stretch>
        </p:blipFill>
        <p:spPr>
          <a:xfrm>
            <a:off x="0" y="289367"/>
            <a:ext cx="11875625" cy="601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6649-E67A-59FC-A886-80BA571C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5.0 The 8085 Microprocessor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7C32-B98B-BA1F-B311-71F5DC67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8143"/>
            <a:ext cx="9905999" cy="4325968"/>
          </a:xfrm>
        </p:spPr>
        <p:txBody>
          <a:bodyPr>
            <a:normAutofit fontScale="85000" lnSpcReduction="20000"/>
          </a:bodyPr>
          <a:lstStyle/>
          <a:p>
            <a:r>
              <a:rPr lang="en-US" sz="4400" b="1" dirty="0"/>
              <a:t>Key Features:</a:t>
            </a:r>
            <a:endParaRPr lang="en-US" sz="4400" dirty="0"/>
          </a:p>
          <a:p>
            <a:pPr lvl="0"/>
            <a:r>
              <a:rPr lang="en-US" sz="4400" dirty="0"/>
              <a:t>8-bit processor (data bus width = 8 bits).</a:t>
            </a:r>
          </a:p>
          <a:p>
            <a:pPr lvl="0"/>
            <a:r>
              <a:rPr lang="en-US" sz="4400" dirty="0"/>
              <a:t>16-bit address bus (can access 64 KB memory).</a:t>
            </a:r>
          </a:p>
          <a:p>
            <a:pPr lvl="0"/>
            <a:r>
              <a:rPr lang="en-US" sz="4400" dirty="0"/>
              <a:t>5 addressing modes.</a:t>
            </a:r>
          </a:p>
          <a:p>
            <a:pPr lvl="0"/>
            <a:r>
              <a:rPr lang="en-US" sz="4400" dirty="0"/>
              <a:t>Operates at 3 MHz with +5V power.</a:t>
            </a:r>
          </a:p>
          <a:p>
            <a:pPr lvl="0"/>
            <a:r>
              <a:rPr lang="en-US" sz="4400" dirty="0"/>
              <a:t>74 instructions total.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05956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5C8A-424B-A959-A941-32CC50C9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Architecture Overview: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6D7DE-0B39-892A-1587-71FEE8F01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537"/>
            <a:ext cx="10515600" cy="4776426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sz="4000" b="1" dirty="0"/>
              <a:t>Registers:</a:t>
            </a:r>
            <a:r>
              <a:rPr lang="en-US" sz="4000" dirty="0"/>
              <a:t> A, B, C, D, E, H, L.</a:t>
            </a:r>
          </a:p>
          <a:p>
            <a:pPr lvl="0"/>
            <a:r>
              <a:rPr lang="en-US" sz="4000" b="1" dirty="0"/>
              <a:t>Accumulator (A):</a:t>
            </a:r>
            <a:r>
              <a:rPr lang="en-US" sz="4000" dirty="0"/>
              <a:t> Central register used in arithmetic/logic operations.</a:t>
            </a:r>
          </a:p>
          <a:p>
            <a:pPr lvl="0"/>
            <a:r>
              <a:rPr lang="en-US" sz="4000" b="1" dirty="0"/>
              <a:t>Flag Register:</a:t>
            </a:r>
            <a:r>
              <a:rPr lang="en-US" sz="4000" dirty="0"/>
              <a:t> Indicates conditions (zero, carry, sign, parity, auxiliary carry).</a:t>
            </a:r>
          </a:p>
          <a:p>
            <a:pPr lvl="0"/>
            <a:r>
              <a:rPr lang="en-US" sz="4000" b="1" dirty="0"/>
              <a:t>Program Counter (PC):</a:t>
            </a:r>
            <a:r>
              <a:rPr lang="en-US" sz="4000" dirty="0"/>
              <a:t> Points to next instruction.</a:t>
            </a:r>
          </a:p>
          <a:p>
            <a:r>
              <a:rPr lang="en-US" sz="4000" b="1" dirty="0"/>
              <a:t>Stack Pointer (SP):</a:t>
            </a:r>
            <a:r>
              <a:rPr lang="en-US" sz="4000" dirty="0"/>
              <a:t> Tracks memory for temporary data</a:t>
            </a:r>
          </a:p>
        </p:txBody>
      </p:sp>
    </p:spTree>
    <p:extLst>
      <p:ext uri="{BB962C8B-B14F-4D97-AF65-F5344CB8AC3E}">
        <p14:creationId xmlns:p14="http://schemas.microsoft.com/office/powerpoint/2010/main" val="3108205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02A76F-DC29-A1C5-508F-E0BE4EC4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57" t="20118" r="24430" b="25091"/>
          <a:stretch>
            <a:fillRect/>
          </a:stretch>
        </p:blipFill>
        <p:spPr>
          <a:xfrm>
            <a:off x="231494" y="405114"/>
            <a:ext cx="11447361" cy="579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61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0779-DE41-CBA8-F163-F1CCD0DE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6.0 Microcontrollers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802F6-141D-AC91-4FD0-8BFAE907B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A </a:t>
            </a:r>
            <a:r>
              <a:rPr lang="en-US" sz="4000" b="1" dirty="0"/>
              <a:t>microcontroller</a:t>
            </a:r>
            <a:r>
              <a:rPr lang="en-US" sz="4000" dirty="0"/>
              <a:t> is a compact integrated circuit that contains a processor (CPU), memory (RAM/ROM), and input/output peripherals on one chip.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8569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960E-6F7C-8591-ECFA-F0CC4EB6A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671" y="29567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Difference Between Microprocessor and Microcontroller: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58B57D9-0B9F-625D-12DE-02BA82573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903261"/>
              </p:ext>
            </p:extLst>
          </p:nvPr>
        </p:nvGraphicFramePr>
        <p:xfrm>
          <a:off x="838200" y="1621240"/>
          <a:ext cx="10515600" cy="47611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3482075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566976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36428484"/>
                    </a:ext>
                  </a:extLst>
                </a:gridCol>
              </a:tblGrid>
              <a:tr h="7580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Feature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Microprocessor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Microcontroller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0555663"/>
                  </a:ext>
                </a:extLst>
              </a:tr>
              <a:tr h="7580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Function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General-purpose computing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Specific embedded tasks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7521586"/>
                  </a:ext>
                </a:extLst>
              </a:tr>
              <a:tr h="7580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Components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CPU only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CPU + Memory + I/O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00301283"/>
                  </a:ext>
                </a:extLst>
              </a:tr>
              <a:tr h="7580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Cost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Higher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Lower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695406"/>
                  </a:ext>
                </a:extLst>
              </a:tr>
              <a:tr h="7580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Power consumption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Higher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Lower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6590439"/>
                  </a:ext>
                </a:extLst>
              </a:tr>
              <a:tr h="7580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Applications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PCs, servers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Appliances, automation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5431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238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52E58-803A-0E71-1B1F-7E890139D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6972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b="1" dirty="0"/>
              <a:t>Examples:</a:t>
            </a:r>
            <a:endParaRPr lang="en-US" sz="4000" dirty="0"/>
          </a:p>
          <a:p>
            <a:pPr lvl="0"/>
            <a:r>
              <a:rPr lang="en-US" sz="4000" b="1" dirty="0"/>
              <a:t>8085, 8086</a:t>
            </a:r>
            <a:r>
              <a:rPr lang="en-US" sz="4000" dirty="0"/>
              <a:t> → Microprocessors</a:t>
            </a:r>
          </a:p>
          <a:p>
            <a:pPr lvl="0"/>
            <a:r>
              <a:rPr lang="en-US" sz="4000" b="1" dirty="0"/>
              <a:t>8051, PIC, ARM</a:t>
            </a:r>
            <a:r>
              <a:rPr lang="en-US" sz="4000" dirty="0"/>
              <a:t> → Microcontrollers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65582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38BF-B9E1-5B6D-AB9B-658BD0183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4"/>
            <a:ext cx="9905998" cy="1478570"/>
          </a:xfrm>
        </p:spPr>
        <p:txBody>
          <a:bodyPr/>
          <a:lstStyle/>
          <a:p>
            <a:r>
              <a:rPr lang="en-US" b="1" dirty="0"/>
              <a:t>7.0 Embedded Systems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0ED2C-7377-0486-3021-B137B541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78329"/>
            <a:ext cx="9905999" cy="4112872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sz="3600" dirty="0"/>
              <a:t>Embedded systems integrate microcontrollers to perform dedicated functions.</a:t>
            </a:r>
          </a:p>
          <a:p>
            <a:pPr lvl="0"/>
            <a:r>
              <a:rPr lang="en-US" sz="3600" dirty="0"/>
              <a:t>Examples:</a:t>
            </a:r>
          </a:p>
          <a:p>
            <a:pPr lvl="1"/>
            <a:r>
              <a:rPr lang="en-US" sz="3200" dirty="0"/>
              <a:t>Traffic lights</a:t>
            </a:r>
          </a:p>
          <a:p>
            <a:pPr lvl="1"/>
            <a:r>
              <a:rPr lang="en-US" sz="3200" dirty="0"/>
              <a:t>Washing machines</a:t>
            </a:r>
          </a:p>
          <a:p>
            <a:pPr lvl="1"/>
            <a:r>
              <a:rPr lang="en-US" sz="3200" dirty="0"/>
              <a:t>Automotive control systems</a:t>
            </a:r>
          </a:p>
          <a:p>
            <a:pPr lvl="1"/>
            <a:r>
              <a:rPr lang="en-US" sz="3200" dirty="0"/>
              <a:t>Smart thermostats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31087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C8A3-B46D-5BDA-D497-7C5364EF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8.0 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34EB5-C8C7-FEBD-37B8-4DBDADED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8142"/>
            <a:ext cx="9905999" cy="4268095"/>
          </a:xfrm>
        </p:spPr>
        <p:txBody>
          <a:bodyPr>
            <a:normAutofit fontScale="92500" lnSpcReduction="20000"/>
          </a:bodyPr>
          <a:lstStyle/>
          <a:p>
            <a:pPr lvl="0" algn="just"/>
            <a:r>
              <a:rPr lang="en-US" sz="3200" dirty="0"/>
              <a:t>The evolution of processors has moved from mechanical calculators to highly integrated chips.</a:t>
            </a:r>
          </a:p>
          <a:p>
            <a:pPr lvl="0" algn="just"/>
            <a:r>
              <a:rPr lang="en-US" sz="3200" dirty="0"/>
              <a:t>8085 serves as a foundation for understanding modern CPU design.</a:t>
            </a:r>
          </a:p>
          <a:p>
            <a:pPr lvl="0" algn="just"/>
            <a:r>
              <a:rPr lang="en-US" sz="3200" dirty="0"/>
              <a:t>Microcontrollers combine multiple components on a single chip for specific applications.</a:t>
            </a:r>
          </a:p>
          <a:p>
            <a:pPr algn="just"/>
            <a:r>
              <a:rPr lang="en-US" sz="3200" dirty="0"/>
              <a:t>Embedded systems use these controllers for automation and control</a:t>
            </a:r>
          </a:p>
        </p:txBody>
      </p:sp>
    </p:spTree>
    <p:extLst>
      <p:ext uri="{BB962C8B-B14F-4D97-AF65-F5344CB8AC3E}">
        <p14:creationId xmlns:p14="http://schemas.microsoft.com/office/powerpoint/2010/main" val="3779055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4547-2BC3-702D-3B3D-8A810879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9.0 Review Questions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C6C37-7F2D-61BA-2FFA-0C6964D4A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39433"/>
            <a:ext cx="9905999" cy="425176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sz="3600" dirty="0"/>
              <a:t>Differentiate between a microprocessor and a microcontroller.</a:t>
            </a:r>
          </a:p>
          <a:p>
            <a:pPr lvl="0"/>
            <a:r>
              <a:rPr lang="en-US" sz="3600" dirty="0"/>
              <a:t>State five features of the Intel 8085 microprocessor.</a:t>
            </a:r>
          </a:p>
          <a:p>
            <a:pPr lvl="0"/>
            <a:r>
              <a:rPr lang="en-US" sz="3600" dirty="0"/>
              <a:t>Describe the three main buses in a microprocessor system.</a:t>
            </a:r>
          </a:p>
          <a:p>
            <a:pPr lvl="0"/>
            <a:r>
              <a:rPr lang="en-US" sz="3600" dirty="0"/>
              <a:t>Explain how the evolution of computers led to the invention of the microprocessor.</a:t>
            </a:r>
          </a:p>
          <a:p>
            <a:r>
              <a:rPr lang="en-US" sz="3600" dirty="0"/>
              <a:t>Give three examples of embedded systems in everyday life</a:t>
            </a:r>
          </a:p>
        </p:txBody>
      </p:sp>
    </p:spTree>
    <p:extLst>
      <p:ext uri="{BB962C8B-B14F-4D97-AF65-F5344CB8AC3E}">
        <p14:creationId xmlns:p14="http://schemas.microsoft.com/office/powerpoint/2010/main" val="792825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D8527-D1D3-2C3D-E694-CCCE0EDBA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ctr"/>
            <a:r>
              <a:rPr lang="en-US" sz="16600" dirty="0">
                <a:latin typeface="Arial Black" panose="020B0A04020102020204" pitchFamily="34" charset="0"/>
              </a:rPr>
              <a:t>THE END OF LECTURE ONE</a:t>
            </a:r>
          </a:p>
        </p:txBody>
      </p:sp>
    </p:spTree>
    <p:extLst>
      <p:ext uri="{BB962C8B-B14F-4D97-AF65-F5344CB8AC3E}">
        <p14:creationId xmlns:p14="http://schemas.microsoft.com/office/powerpoint/2010/main" val="6757646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29</TotalTime>
  <Words>1230</Words>
  <Application>Microsoft Office PowerPoint</Application>
  <PresentationFormat>Widescreen</PresentationFormat>
  <Paragraphs>128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Algerian</vt:lpstr>
      <vt:lpstr>Arial</vt:lpstr>
      <vt:lpstr>Arial Black</vt:lpstr>
      <vt:lpstr>Calibri</vt:lpstr>
      <vt:lpstr>Tw Cen MT</vt:lpstr>
      <vt:lpstr>Circuit</vt:lpstr>
      <vt:lpstr>Ghana Communication Technology University (GCTU)</vt:lpstr>
      <vt:lpstr>Topic: Introduction and Fundamentals of Microprocessors and Microcontrollers </vt:lpstr>
      <vt:lpstr>2.0 Introduction </vt:lpstr>
      <vt:lpstr>PowerPoint Presentation</vt:lpstr>
      <vt:lpstr>3.0 Evolution of Computers and Processors </vt:lpstr>
      <vt:lpstr>3.2 The Electronic Age </vt:lpstr>
      <vt:lpstr>The first generation (1940-1950) </vt:lpstr>
      <vt:lpstr>The second generation (1954-64) </vt:lpstr>
      <vt:lpstr>PowerPoint Presentation</vt:lpstr>
      <vt:lpstr>The third generation (1965-75)</vt:lpstr>
      <vt:lpstr>PowerPoint Presentation</vt:lpstr>
      <vt:lpstr>3.3 The VLSI Era </vt:lpstr>
      <vt:lpstr>PowerPoint Presentation</vt:lpstr>
      <vt:lpstr>4.0 Microprocessor Fundamentals </vt:lpstr>
      <vt:lpstr>PowerPoint Presentation</vt:lpstr>
      <vt:lpstr>PowerPoint Presentation</vt:lpstr>
      <vt:lpstr>PowerPoint Presentation</vt:lpstr>
      <vt:lpstr>PowerPoint Presentation</vt:lpstr>
      <vt:lpstr>5.0 The 8085 Microprocessor </vt:lpstr>
      <vt:lpstr>Architecture Overview: </vt:lpstr>
      <vt:lpstr>PowerPoint Presentation</vt:lpstr>
      <vt:lpstr>6.0 Microcontrollers </vt:lpstr>
      <vt:lpstr>Difference Between Microprocessor and Microcontroller: </vt:lpstr>
      <vt:lpstr>PowerPoint Presentation</vt:lpstr>
      <vt:lpstr>7.0 Embedded Systems </vt:lpstr>
      <vt:lpstr>8.0 Summary </vt:lpstr>
      <vt:lpstr>9.0 Review Questions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Agidi Frank</dc:creator>
  <cp:lastModifiedBy>Agidi Frank</cp:lastModifiedBy>
  <cp:revision>5</cp:revision>
  <dcterms:created xsi:type="dcterms:W3CDTF">2025-11-10T10:05:27Z</dcterms:created>
  <dcterms:modified xsi:type="dcterms:W3CDTF">2025-11-10T13:04:19Z</dcterms:modified>
</cp:coreProperties>
</file>